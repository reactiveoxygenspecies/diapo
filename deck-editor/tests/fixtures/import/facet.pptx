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t>Revenue by quarter (M)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4.2</c:v>
                </c:pt>
                <c:pt idx="1">
                  <c:v>4.8</c:v>
                </c:pt>
                <c:pt idx="2">
                  <c:v>5.0999999999999996</c:v>
                </c:pt>
                <c:pt idx="3">
                  <c:v>5.9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9B-4FBB-BB5B-30812310711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</c:v>
                </c:pt>
                <c:pt idx="1">
                  <c:v>5.6</c:v>
                </c:pt>
                <c:pt idx="2">
                  <c:v>6.3</c:v>
                </c:pt>
                <c:pt idx="3">
                  <c:v>7.1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E9B-4FBB-BB5B-3081231071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t>Share by segment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Lbls>
            <c:numFmt formatCode="0&quot;%&quot;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Enterprise</c:v>
                </c:pt>
                <c:pt idx="1">
                  <c:v>Self-serve</c:v>
                </c:pt>
                <c:pt idx="2">
                  <c:v>Education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46</c:v>
                </c:pt>
                <c:pt idx="1">
                  <c:v>31</c:v>
                </c:pt>
                <c:pt idx="2">
                  <c:v>15</c:v>
                </c:pt>
                <c:pt idx="3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1A-4328-8FE4-E77D45D8D41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F0A32D-FC6F-4181-A52D-E039CBB7C970}" type="datetimeFigureOut">
              <a:rPr lang="it-IT" smtClean="0"/>
              <a:t>20/09/2026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FC826A-1880-4B72-BB9D-B77314A45D9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86134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Welcome everyone. Two minutes on the agenda, then the numbers.</a:t>
            </a:r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FC826A-1880-4B72-BB9D-B77314A45D9F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550993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Keep this short.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FC826A-1880-4B72-BB9D-B77314A45D9F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154093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0BA26-E070-4473-81A8-C053C8622F70}" type="datetimeFigureOut">
              <a:rPr lang="it-IT" smtClean="0"/>
              <a:t>20/09/2026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5B5C6-FAA8-49B4-9294-BDCB9A198A5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45149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0BA26-E070-4473-81A8-C053C8622F70}" type="datetimeFigureOut">
              <a:rPr lang="it-IT" smtClean="0"/>
              <a:t>20/09/2026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5B5C6-FAA8-49B4-9294-BDCB9A198A5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1270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0BA26-E070-4473-81A8-C053C8622F70}" type="datetimeFigureOut">
              <a:rPr lang="it-IT" smtClean="0"/>
              <a:t>20/09/2026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5B5C6-FAA8-49B4-9294-BDCB9A198A5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1741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0BA26-E070-4473-81A8-C053C8622F70}" type="datetimeFigureOut">
              <a:rPr lang="it-IT" smtClean="0"/>
              <a:t>20/09/2026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5B5C6-FAA8-49B4-9294-BDCB9A198A5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6876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0BA26-E070-4473-81A8-C053C8622F70}" type="datetimeFigureOut">
              <a:rPr lang="it-IT" smtClean="0"/>
              <a:t>20/09/2026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5B5C6-FAA8-49B4-9294-BDCB9A198A5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19458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0BA26-E070-4473-81A8-C053C8622F70}" type="datetimeFigureOut">
              <a:rPr lang="it-IT" smtClean="0"/>
              <a:t>20/09/2026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5B5C6-FAA8-49B4-9294-BDCB9A198A5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7239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0BA26-E070-4473-81A8-C053C8622F70}" type="datetimeFigureOut">
              <a:rPr lang="it-IT" smtClean="0"/>
              <a:t>20/09/2026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5B5C6-FAA8-49B4-9294-BDCB9A198A5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03034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0BA26-E070-4473-81A8-C053C8622F70}" type="datetimeFigureOut">
              <a:rPr lang="it-IT" smtClean="0"/>
              <a:t>20/09/2026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5B5C6-FAA8-49B4-9294-BDCB9A198A5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59720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0BA26-E070-4473-81A8-C053C8622F70}" type="datetimeFigureOut">
              <a:rPr lang="it-IT" smtClean="0"/>
              <a:t>20/09/2026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5B5C6-FAA8-49B4-9294-BDCB9A198A5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87083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0BA26-E070-4473-81A8-C053C8622F70}" type="datetimeFigureOut">
              <a:rPr lang="it-IT" smtClean="0"/>
              <a:t>20/09/2026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5B5C6-FAA8-49B4-9294-BDCB9A198A5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54393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0BA26-E070-4473-81A8-C053C8622F70}" type="datetimeFigureOut">
              <a:rPr lang="it-IT" smtClean="0"/>
              <a:t>20/09/2026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5B5C6-FAA8-49B4-9294-BDCB9A198A55}" type="slidenum">
              <a:rPr lang="it-IT" smtClean="0"/>
              <a:t>‹#›</a:t>
            </a:fld>
            <a:endParaRPr lang="it-IT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935723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0BA26-E070-4473-81A8-C053C8622F70}" type="datetimeFigureOut">
              <a:rPr lang="it-IT" smtClean="0"/>
              <a:t>20/09/2026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5B5C6-FAA8-49B4-9294-BDCB9A198A5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403723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0BA26-E070-4473-81A8-C053C8622F70}" type="datetimeFigureOut">
              <a:rPr lang="it-IT" smtClean="0"/>
              <a:t>20/09/2026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5B5C6-FAA8-49B4-9294-BDCB9A198A55}" type="slidenum">
              <a:rPr lang="it-IT" smtClean="0"/>
              <a:t>‹#›</a:t>
            </a:fld>
            <a:endParaRPr lang="it-IT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936671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0BA26-E070-4473-81A8-C053C8622F70}" type="datetimeFigureOut">
              <a:rPr lang="it-IT" smtClean="0"/>
              <a:t>20/09/2026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5B5C6-FAA8-49B4-9294-BDCB9A198A5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43757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0BA26-E070-4473-81A8-C053C8622F70}" type="datetimeFigureOut">
              <a:rPr lang="it-IT" smtClean="0"/>
              <a:t>20/09/2026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5B5C6-FAA8-49B4-9294-BDCB9A198A5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450057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0BA26-E070-4473-81A8-C053C8622F70}" type="datetimeFigureOut">
              <a:rPr lang="it-IT" smtClean="0"/>
              <a:t>20/09/2026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5B5C6-FAA8-49B4-9294-BDCB9A198A5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54593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40BA26-E070-4473-81A8-C053C8622F70}" type="datetimeFigureOut">
              <a:rPr lang="it-IT" smtClean="0"/>
              <a:t>20/09/2026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465B5C6-FAA8-49B4-9294-BDCB9A198A5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8744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iapo.app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614B9-9005-6FE1-D4C5-254C094880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/>
              <a:t>Quarterly 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7BBDA1-F895-79E2-4BE9-2706C10F06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Product, people and plans for Q4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7897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A68DB-AA2A-2998-826C-D2912E3C0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2782F-7952-AF84-58F4-A0D7BB4A7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Where we are</a:t>
            </a:r>
          </a:p>
          <a:p>
            <a:pPr lvl="1"/>
            <a:r>
              <a:rPr lang="en-US" i="1">
                <a:solidFill>
                  <a:srgbClr val="D02020"/>
                </a:solidFill>
              </a:rPr>
              <a:t>Revenue</a:t>
            </a:r>
            <a:r>
              <a:rPr lang="en-US"/>
              <a:t> and margin</a:t>
            </a:r>
          </a:p>
          <a:p>
            <a:pPr lvl="1"/>
            <a:r>
              <a:rPr lang="en-US"/>
              <a:t>Customer growth by segment</a:t>
            </a:r>
          </a:p>
          <a:p>
            <a:pPr lvl="2"/>
            <a:r>
              <a:rPr lang="en-US"/>
              <a:t>Enterprise</a:t>
            </a:r>
          </a:p>
          <a:p>
            <a:pPr lvl="2"/>
            <a:r>
              <a:rPr lang="en-US"/>
              <a:t>Self-serve</a:t>
            </a:r>
          </a:p>
          <a:p>
            <a:r>
              <a:rPr lang="en-US"/>
              <a:t>What is next</a:t>
            </a:r>
          </a:p>
          <a:p>
            <a:r>
              <a:rPr lang="en-US"/>
              <a:t>The roadmap at </a:t>
            </a:r>
            <a:r>
              <a:rPr lang="en-US">
                <a:hlinkClick r:id="rId3"/>
              </a:rPr>
              <a:t>diapo.app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06037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CB127-746A-161D-0F51-C00152E49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The numbers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BD73F5-6280-8D80-197B-16FC9EA0BB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Revenue, margin, cash</a:t>
            </a:r>
          </a:p>
        </p:txBody>
      </p:sp>
    </p:spTree>
    <p:extLst>
      <p:ext uri="{BB962C8B-B14F-4D97-AF65-F5344CB8AC3E}">
        <p14:creationId xmlns:p14="http://schemas.microsoft.com/office/powerpoint/2010/main" val="1391438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E1F34-7C86-E65C-814B-5B922ED5C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Revenue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1E94D-C395-DA7C-813A-26E7A8A0CB9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/>
              <a:t>Up 18% year on year</a:t>
            </a:r>
          </a:p>
          <a:p>
            <a:r>
              <a:rPr lang="en-US"/>
              <a:t>Margin steady at 62%</a:t>
            </a:r>
          </a:p>
          <a:p>
            <a:r>
              <a:rPr lang="en-US"/>
              <a:t>Cash runway 26 months</a:t>
            </a:r>
            <a:endParaRPr lang="it-IT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D0DA96-2D1F-C298-F708-177B7B3FEDF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825625"/>
            <a:ext cx="5181600" cy="345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090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E1FE7-99BB-A7A8-52FA-6042C053F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Enterprise vs self-serve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2AC6BE-D693-171B-A85E-808B86FD2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Enterprise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2A241B-46C0-961B-E8E5-322278C20E3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/>
              <a:t>Long sales cycle</a:t>
            </a:r>
          </a:p>
          <a:p>
            <a:r>
              <a:rPr lang="en-US"/>
              <a:t>High contract value</a:t>
            </a:r>
          </a:p>
          <a:p>
            <a:r>
              <a:rPr lang="en-US"/>
              <a:t>Dedicated support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D2B73E-5DC9-9A3E-701C-7F5F4F978A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it-IT"/>
              <a:t>Self-serve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FF733C-53AC-14BC-7008-CEF18EEEB9F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/>
              <a:t>Sign up in minutes</a:t>
            </a:r>
          </a:p>
          <a:p>
            <a:r>
              <a:rPr lang="en-US"/>
              <a:t>Card on file</a:t>
            </a:r>
          </a:p>
          <a:p>
            <a:r>
              <a:rPr lang="en-US"/>
              <a:t>Community support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48573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C3FF9-088D-CDFE-F4DE-FD8BAA3C3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Shapes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62EA73-914F-C21A-E904-00D5C6E567CC}"/>
              </a:ext>
            </a:extLst>
          </p:cNvPr>
          <p:cNvSpPr/>
          <p:nvPr/>
        </p:nvSpPr>
        <p:spPr>
          <a:xfrm>
            <a:off x="508000" y="1651000"/>
            <a:ext cx="1905000" cy="1143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Rectangle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38BA2C9-2D15-4910-CD71-1ABF76BCF2BC}"/>
              </a:ext>
            </a:extLst>
          </p:cNvPr>
          <p:cNvSpPr/>
          <p:nvPr/>
        </p:nvSpPr>
        <p:spPr>
          <a:xfrm>
            <a:off x="2667000" y="1651000"/>
            <a:ext cx="1905000" cy="1143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Rounded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EA3E762-3D67-3052-FC1E-A8E8F831619C}"/>
              </a:ext>
            </a:extLst>
          </p:cNvPr>
          <p:cNvSpPr/>
          <p:nvPr/>
        </p:nvSpPr>
        <p:spPr>
          <a:xfrm>
            <a:off x="4826000" y="1651000"/>
            <a:ext cx="1524000" cy="152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Oval</a:t>
            </a:r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FCC13C4C-1351-204A-212E-9643B49E86DA}"/>
              </a:ext>
            </a:extLst>
          </p:cNvPr>
          <p:cNvSpPr/>
          <p:nvPr/>
        </p:nvSpPr>
        <p:spPr>
          <a:xfrm>
            <a:off x="6604000" y="1651000"/>
            <a:ext cx="1524000" cy="139700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Tri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84DB9DB3-FD86-C0CA-4954-1C2128D4EF6D}"/>
              </a:ext>
            </a:extLst>
          </p:cNvPr>
          <p:cNvSpPr/>
          <p:nvPr/>
        </p:nvSpPr>
        <p:spPr>
          <a:xfrm>
            <a:off x="8382000" y="1651000"/>
            <a:ext cx="1524000" cy="139700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Diamond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029BCC4A-1419-E404-9605-3B3F8ECDF1F4}"/>
              </a:ext>
            </a:extLst>
          </p:cNvPr>
          <p:cNvSpPr/>
          <p:nvPr/>
        </p:nvSpPr>
        <p:spPr>
          <a:xfrm>
            <a:off x="10160000" y="1651000"/>
            <a:ext cx="1778000" cy="1016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Go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89989D44-068F-3227-4D62-5FDFDFA596BC}"/>
              </a:ext>
            </a:extLst>
          </p:cNvPr>
          <p:cNvSpPr/>
          <p:nvPr/>
        </p:nvSpPr>
        <p:spPr>
          <a:xfrm>
            <a:off x="508000" y="3683000"/>
            <a:ext cx="1778000" cy="101600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>
                <a:solidFill>
                  <a:schemeClr val="tx1"/>
                </a:solidFill>
              </a:rPr>
              <a:t>Step 1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FF28D2CF-216E-EA51-158A-3DD6B51FF1FB}"/>
              </a:ext>
            </a:extLst>
          </p:cNvPr>
          <p:cNvSpPr/>
          <p:nvPr/>
        </p:nvSpPr>
        <p:spPr>
          <a:xfrm>
            <a:off x="2413000" y="3683000"/>
            <a:ext cx="1778000" cy="101600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>
                <a:solidFill>
                  <a:schemeClr val="tx1"/>
                </a:solidFill>
              </a:rPr>
              <a:t>Step 2</a:t>
            </a:r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29A853CF-B652-4230-0F1C-4748C5FAADC0}"/>
              </a:ext>
            </a:extLst>
          </p:cNvPr>
          <p:cNvSpPr/>
          <p:nvPr/>
        </p:nvSpPr>
        <p:spPr>
          <a:xfrm>
            <a:off x="4572000" y="3683000"/>
            <a:ext cx="1397000" cy="13970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Hexagon 11">
            <a:extLst>
              <a:ext uri="{FF2B5EF4-FFF2-40B4-BE49-F238E27FC236}">
                <a16:creationId xmlns:a16="http://schemas.microsoft.com/office/drawing/2014/main" id="{0F2818DB-4D32-7E0E-1F53-BE4C92433F45}"/>
              </a:ext>
            </a:extLst>
          </p:cNvPr>
          <p:cNvSpPr/>
          <p:nvPr/>
        </p:nvSpPr>
        <p:spPr>
          <a:xfrm>
            <a:off x="6223000" y="3683000"/>
            <a:ext cx="1524000" cy="1397000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Hex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C3FAED-4A57-F2E1-AE4A-E5488C58250D}"/>
              </a:ext>
            </a:extLst>
          </p:cNvPr>
          <p:cNvSpPr/>
          <p:nvPr/>
        </p:nvSpPr>
        <p:spPr>
          <a:xfrm>
            <a:off x="8128000" y="3683000"/>
            <a:ext cx="2032000" cy="1143000"/>
          </a:xfrm>
          <a:prstGeom prst="rect">
            <a:avLst/>
          </a:prstGeom>
          <a:gradFill flip="none" rotWithShape="1">
            <a:gsLst>
              <a:gs pos="0">
                <a:srgbClr val="2080C0"/>
              </a:gs>
              <a:gs pos="100000">
                <a:srgbClr val="F0A020"/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Gradient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64A0D4-1003-69E4-B4A4-3E937BF34DCF}"/>
              </a:ext>
            </a:extLst>
          </p:cNvPr>
          <p:cNvSpPr/>
          <p:nvPr/>
        </p:nvSpPr>
        <p:spPr>
          <a:xfrm>
            <a:off x="10414000" y="3683000"/>
            <a:ext cx="1524000" cy="1143000"/>
          </a:xfrm>
          <a:prstGeom prst="rect">
            <a:avLst/>
          </a:prstGeom>
          <a:noFill/>
          <a:ln w="50800" cap="flat" cmpd="sng" algn="ctr">
            <a:solidFill>
              <a:schemeClr val="accent1">
                <a:shade val="15000"/>
              </a:schemeClr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Outline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7A4CD50-B5E9-B4B3-670E-659EB73D8DE6}"/>
              </a:ext>
            </a:extLst>
          </p:cNvPr>
          <p:cNvCxnSpPr/>
          <p:nvPr/>
        </p:nvCxnSpPr>
        <p:spPr>
          <a:xfrm>
            <a:off x="508000" y="5334000"/>
            <a:ext cx="4572000" cy="101600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58601C4-9472-E895-26BC-C130121D8A13}"/>
              </a:ext>
            </a:extLst>
          </p:cNvPr>
          <p:cNvCxnSpPr/>
          <p:nvPr/>
        </p:nvCxnSpPr>
        <p:spPr>
          <a:xfrm flipV="1">
            <a:off x="5334000" y="5334000"/>
            <a:ext cx="4572000" cy="1016000"/>
          </a:xfrm>
          <a:prstGeom prst="line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07E8937-2B91-0DB7-FD0C-39090D92B2F2}"/>
              </a:ext>
            </a:extLst>
          </p:cNvPr>
          <p:cNvCxnSpPr/>
          <p:nvPr/>
        </p:nvCxnSpPr>
        <p:spPr>
          <a:xfrm>
            <a:off x="508000" y="6604000"/>
            <a:ext cx="11430000" cy="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D12286F-731B-74ED-0D42-3D687FD6D38E}"/>
              </a:ext>
            </a:extLst>
          </p:cNvPr>
          <p:cNvSpPr txBox="1"/>
          <p:nvPr/>
        </p:nvSpPr>
        <p:spPr>
          <a:xfrm rot="-720000">
            <a:off x="8128000" y="5080000"/>
            <a:ext cx="381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it-IT"/>
              <a:t>Rotated text box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EB31C0F-1373-4FD1-C5AC-A6B87412CFCA}"/>
              </a:ext>
            </a:extLst>
          </p:cNvPr>
          <p:cNvGrpSpPr/>
          <p:nvPr/>
        </p:nvGrpSpPr>
        <p:grpSpPr>
          <a:xfrm>
            <a:off x="10414000" y="5207000"/>
            <a:ext cx="1524000" cy="762000"/>
            <a:chOff x="10414000" y="5207000"/>
            <a:chExt cx="1524000" cy="762000"/>
          </a:xfrm>
        </p:grpSpPr>
        <p:sp>
          <p:nvSpPr>
            <p:cNvPr id="19" name="g1">
              <a:extLst>
                <a:ext uri="{FF2B5EF4-FFF2-40B4-BE49-F238E27FC236}">
                  <a16:creationId xmlns:a16="http://schemas.microsoft.com/office/drawing/2014/main" id="{18F4C172-FC09-7854-CF2A-EF3E4C131259}"/>
                </a:ext>
              </a:extLst>
            </p:cNvPr>
            <p:cNvSpPr/>
            <p:nvPr/>
          </p:nvSpPr>
          <p:spPr>
            <a:xfrm>
              <a:off x="10414000" y="5207000"/>
              <a:ext cx="762000" cy="762000"/>
            </a:xfrm>
            <a:prstGeom prst="rect">
              <a:avLst/>
            </a:prstGeom>
            <a:solidFill>
              <a:srgbClr val="40A040"/>
            </a:solidFill>
            <a:effectLst>
              <a:outerShdw blurRad="63500" dist="37357" dir="2700000" rotWithShape="0">
                <a:scrgbClr r="0" g="0" b="0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0" name="g2">
              <a:extLst>
                <a:ext uri="{FF2B5EF4-FFF2-40B4-BE49-F238E27FC236}">
                  <a16:creationId xmlns:a16="http://schemas.microsoft.com/office/drawing/2014/main" id="{60E4ABB9-0876-0767-0906-CB2BA4591790}"/>
                </a:ext>
              </a:extLst>
            </p:cNvPr>
            <p:cNvSpPr/>
            <p:nvPr/>
          </p:nvSpPr>
          <p:spPr>
            <a:xfrm>
              <a:off x="11303000" y="5207000"/>
              <a:ext cx="635000" cy="635000"/>
            </a:xfrm>
            <a:prstGeom prst="ellipse">
              <a:avLst/>
            </a:prstGeom>
            <a:solidFill>
              <a:srgbClr val="F0404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</p:spTree>
    <p:extLst>
      <p:ext uri="{BB962C8B-B14F-4D97-AF65-F5344CB8AC3E}">
        <p14:creationId xmlns:p14="http://schemas.microsoft.com/office/powerpoint/2010/main" val="4168963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E9764-811D-4D9B-66CE-9CD1D5FCB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Results by region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432F8C0-C741-9E8B-4020-ECBA3FE222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0152053"/>
              </p:ext>
            </p:extLst>
          </p:nvPr>
        </p:nvGraphicFramePr>
        <p:xfrm>
          <a:off x="762000" y="1651000"/>
          <a:ext cx="10668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50654587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69018402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47804524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3502506895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lang="it-IT"/>
                        <a:t>Region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it-IT"/>
                        <a:t>H1 and H2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1535227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it-IT"/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/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/>
                        <a:t>260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4391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it-IT"/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/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/>
                        <a:t>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484158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it-IT"/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/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/>
                        <a:t>135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689998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it-IT"/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/>
                        <a:t>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b="1"/>
                        <a:t>320</a:t>
                      </a:r>
                    </a:p>
                  </a:txBody>
                  <a:tcPr>
                    <a:solidFill>
                      <a:srgbClr val="F0D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61437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2517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A237E-871C-33A7-6B6F-A5B60E97D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Charts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08000" y="1524000"/>
          <a:ext cx="5588000" cy="4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350000" y="1524000"/>
          <a:ext cx="5334000" cy="4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07528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C8F1B-8A8A-EFE6-B6F3-401A3C67F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The team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574A81-7342-FE36-D4D2-2671382A129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/>
              <a:t>Forty people in six countries, most of them remote.</a:t>
            </a:r>
            <a:endParaRPr lang="it-IT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1E61F2-8F79-B837-12FD-213AA3EA11D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33" t="6667"/>
          <a:stretch>
            <a:fillRect/>
          </a:stretch>
        </p:blipFill>
        <p:spPr>
          <a:xfrm>
            <a:off x="6006148" y="1312333"/>
            <a:ext cx="5349240" cy="45487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7F29DB-E753-894D-A532-5D522BC6E36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4000" y="254000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347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D628-E0CD-47B6-3C9F-05CDA9321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Risks (a slide with too much text)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7F128-557F-0A8E-B387-D78B7527AA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Risk number 1 with a fairly long description that wraps onto a second line in most themes</a:t>
            </a:r>
          </a:p>
          <a:p>
            <a:r>
              <a:rPr lang="en-US"/>
              <a:t>Risk number 2 with a fairly long description that wraps onto a second line in most themes</a:t>
            </a:r>
          </a:p>
          <a:p>
            <a:r>
              <a:rPr lang="en-US"/>
              <a:t>Risk number 3 with a fairly long description that wraps onto a second line in most themes</a:t>
            </a:r>
          </a:p>
          <a:p>
            <a:r>
              <a:rPr lang="en-US"/>
              <a:t>Risk number 4 with a fairly long description that wraps onto a second line in most themes</a:t>
            </a:r>
          </a:p>
          <a:p>
            <a:r>
              <a:rPr lang="en-US"/>
              <a:t>Risk number 5 with a fairly long description that wraps onto a second line in most themes</a:t>
            </a:r>
          </a:p>
          <a:p>
            <a:r>
              <a:rPr lang="en-US"/>
              <a:t>Risk number 6 with a fairly long description that wraps onto a second line in most themes</a:t>
            </a:r>
          </a:p>
          <a:p>
            <a:r>
              <a:rPr lang="en-US"/>
              <a:t>Risk number 7 with a fairly long description that wraps onto a second line in most themes</a:t>
            </a:r>
          </a:p>
          <a:p>
            <a:r>
              <a:rPr lang="en-US"/>
              <a:t>Risk number 8 with a fairly long description that wraps onto a second line in most themes</a:t>
            </a:r>
          </a:p>
          <a:p>
            <a:r>
              <a:rPr lang="en-US"/>
              <a:t>Risk number 9 with a fairly long description that wraps onto a second line in most themes</a:t>
            </a:r>
          </a:p>
          <a:p>
            <a:r>
              <a:rPr lang="en-US"/>
              <a:t>Risk number 10 with a fairly long description that wraps onto a second line in most themes</a:t>
            </a:r>
          </a:p>
          <a:p>
            <a:r>
              <a:rPr lang="en-US"/>
              <a:t>Risk number 11 with a fairly long description that wraps onto a second line in most themes</a:t>
            </a:r>
          </a:p>
          <a:p>
            <a:r>
              <a:rPr lang="en-US"/>
              <a:t>Risk number 12 with a fairly long description that wraps onto a second line in most themes</a:t>
            </a:r>
          </a:p>
          <a:p>
            <a:r>
              <a:rPr lang="en-US"/>
              <a:t>Risk number 13 with a fairly long description that wraps onto a second line in most themes</a:t>
            </a:r>
          </a:p>
          <a:p>
            <a:r>
              <a:rPr lang="en-US"/>
              <a:t>Risk number 14 with a fairly long description that wraps onto a second line in most themes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341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DD9F48-A7C3-9AE3-58B1-532ECACB61A8}"/>
              </a:ext>
            </a:extLst>
          </p:cNvPr>
          <p:cNvSpPr txBox="1"/>
          <p:nvPr/>
        </p:nvSpPr>
        <p:spPr>
          <a:xfrm>
            <a:off x="762000" y="762000"/>
            <a:ext cx="10668000" cy="209288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4000">
                <a:solidFill>
                  <a:srgbClr val="202080"/>
                </a:solidFill>
              </a:rPr>
              <a:t>Big centred heading</a:t>
            </a:r>
          </a:p>
          <a:p>
            <a:pPr algn="just">
              <a:lnSpc>
                <a:spcPct val="150000"/>
              </a:lnSpc>
            </a:pPr>
            <a:r>
              <a:rPr lang="en-US"/>
              <a:t>A justified paragraph of body text that goes on for long enough to wrap onto several lines so that the justification and the line spacing can be seen in the render.</a:t>
            </a:r>
          </a:p>
          <a:p>
            <a:pPr algn="r"/>
            <a:r>
              <a:rPr lang="en-US"/>
              <a:t>Right aligned, </a:t>
            </a:r>
            <a:r>
              <a:rPr lang="en-US" u="sng"/>
              <a:t>underlined</a:t>
            </a:r>
            <a:r>
              <a:rPr lang="en-US"/>
              <a:t> and </a:t>
            </a:r>
            <a:r>
              <a:rPr lang="en-US" strike="sngStrike"/>
              <a:t>struck</a:t>
            </a:r>
          </a:p>
          <a:p>
            <a:r>
              <a:rPr lang="en-US"/>
              <a:t>Super and sub: x</a:t>
            </a:r>
            <a:r>
              <a:rPr lang="en-US" baseline="30000"/>
              <a:t>2</a:t>
            </a:r>
            <a:r>
              <a:rPr lang="en-US"/>
              <a:t> and H</a:t>
            </a:r>
            <a:r>
              <a:rPr lang="en-US" baseline="-25000"/>
              <a:t>2</a:t>
            </a:r>
            <a:r>
              <a:rPr lang="en-US"/>
              <a:t>O, in</a:t>
            </a:r>
            <a:r>
              <a:rPr lang="en-US">
                <a:latin typeface="Consolas" panose="020B0609020204030204" pitchFamily="49" charset="0"/>
              </a:rPr>
              <a:t> a monospace face</a:t>
            </a:r>
            <a:endParaRPr lang="it-IT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77825F-8CE2-F54A-BDCA-D34D632E0883}"/>
              </a:ext>
            </a:extLst>
          </p:cNvPr>
          <p:cNvSpPr txBox="1"/>
          <p:nvPr/>
        </p:nvSpPr>
        <p:spPr>
          <a:xfrm>
            <a:off x="762000" y="5969000"/>
            <a:ext cx="1066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it-IT" sz="1200">
                <a:solidFill>
                  <a:srgbClr val="808080"/>
                </a:solidFill>
              </a:rPr>
              <a:t>Small grey footer text</a:t>
            </a:r>
          </a:p>
        </p:txBody>
      </p:sp>
    </p:spTree>
    <p:extLst>
      <p:ext uri="{BB962C8B-B14F-4D97-AF65-F5344CB8AC3E}">
        <p14:creationId xmlns:p14="http://schemas.microsoft.com/office/powerpoint/2010/main" val="33587270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8759C1-7F96-A208-B333-7707BD70B4E2}"/>
              </a:ext>
            </a:extLst>
          </p:cNvPr>
          <p:cNvSpPr txBox="1"/>
          <p:nvPr/>
        </p:nvSpPr>
        <p:spPr>
          <a:xfrm>
            <a:off x="762000" y="2540000"/>
            <a:ext cx="10668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it-IT" sz="5400" b="1">
                <a:solidFill>
                  <a:srgbClr val="FFFFFF"/>
                </a:solidFill>
              </a:rPr>
              <a:t>Over a picture</a:t>
            </a:r>
          </a:p>
        </p:txBody>
      </p:sp>
    </p:spTree>
    <p:extLst>
      <p:ext uri="{BB962C8B-B14F-4D97-AF65-F5344CB8AC3E}">
        <p14:creationId xmlns:p14="http://schemas.microsoft.com/office/powerpoint/2010/main" val="6045181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1A5A9-A052-ED2B-B856-8A081C4F8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Caption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F6822-EE94-37A6-DCB9-B2BFCB08C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Main content: three points</a:t>
            </a:r>
          </a:p>
          <a:p>
            <a:r>
              <a:rPr lang="en-US"/>
              <a:t>Two</a:t>
            </a:r>
          </a:p>
          <a:p>
            <a:r>
              <a:rPr lang="en-US"/>
              <a:t>Three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15DEDB-35BC-AC17-3460-D742A68F3F2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/>
              <a:t>The caption explains the content in a smaller face.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375870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DA45B-D247-7A70-BAFC-E8B0D32F0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Hidden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10A66-9727-D67F-2C17-9A619F520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This slide is hidden in the show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614069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494</Words>
  <Application>Microsoft Office PowerPoint</Application>
  <PresentationFormat>Widescreen</PresentationFormat>
  <Paragraphs>95</Paragraphs>
  <Slides>14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Consolas</vt:lpstr>
      <vt:lpstr>Trebuchet MS</vt:lpstr>
      <vt:lpstr>Wingdings 3</vt:lpstr>
      <vt:lpstr>Facet</vt:lpstr>
      <vt:lpstr>Quarterly Review</vt:lpstr>
      <vt:lpstr>Agenda</vt:lpstr>
      <vt:lpstr>The numbers</vt:lpstr>
      <vt:lpstr>Revenue</vt:lpstr>
      <vt:lpstr>Enterprise vs self-serve</vt:lpstr>
      <vt:lpstr>Shapes</vt:lpstr>
      <vt:lpstr>Results by region</vt:lpstr>
      <vt:lpstr>Charts</vt:lpstr>
      <vt:lpstr>The team</vt:lpstr>
      <vt:lpstr>Risks (a slide with too much text)</vt:lpstr>
      <vt:lpstr>PowerPoint Presentation</vt:lpstr>
      <vt:lpstr>PowerPoint Presentation</vt:lpstr>
      <vt:lpstr>Caption layout</vt:lpstr>
      <vt:lpstr>Hidden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Daniele Rossetto</dc:creator>
  <cp:lastModifiedBy>Daniele Rossetto</cp:lastModifiedBy>
  <cp:revision>2</cp:revision>
  <dcterms:created xsi:type="dcterms:W3CDTF">2026-09-20T18:36:43Z</dcterms:created>
  <dcterms:modified xsi:type="dcterms:W3CDTF">2026-09-20T18:36:47Z</dcterms:modified>
</cp:coreProperties>
</file>